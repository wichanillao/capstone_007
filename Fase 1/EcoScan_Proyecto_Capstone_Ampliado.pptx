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m0qJ43dZWyttmt/gmWEL9TuVG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40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8640" y="548640"/>
            <a:ext cx="2103120" cy="502920"/>
          </a:xfrm>
          <a:prstGeom prst="roundRect">
            <a:avLst>
              <a:gd fmla="val 14545" name="adj"/>
            </a:avLst>
          </a:prstGeom>
          <a:solidFill>
            <a:srgbClr val="10B981">
              <a:alpha val="12157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5486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PROYECTO CAPSTONE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EcoScan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4290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Sistema Web Inteligente de Clasificación de Residuos en Puntos Limpios mediante Visión Computacional.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548640" y="4526280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Emanuel Mejías · Williams Chanillao · Bruno Díaz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Contenidos de la Presentación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77240" y="194767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600200" y="1965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y Problemática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00200" y="23500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Brecha de reciclaje y marco regulatorio (Ley REP).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63640" y="178308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492240" y="194767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0" y="1965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0" y="235000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Propósito general y metas específicas medibles.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333756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7240" y="350215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00200" y="35204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390448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Beneficios para usuarios y para el retail.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63640" y="333756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492240" y="350215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0" y="35204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 y Arquitectura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15200" y="390448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PWA, motor de IA, dashboard B2B y stack técnico.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489204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77240" y="505663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60020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y Plan de Trabajo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600200" y="545896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Ciclo CRISP-DM y calendario de sprints.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63640" y="4892040"/>
            <a:ext cx="5394960" cy="1417320"/>
          </a:xfrm>
          <a:prstGeom prst="roundRect">
            <a:avLst>
              <a:gd fmla="val 516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492240" y="505663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15200" y="50749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Resultados, Riesgos y Cierre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315200" y="5458968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KPIs esperados, mitigación de riesgos y equipo.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CONTEXTO NACIONAL Y BRECHA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El Desafío en Origen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fmla="val 2703" name="adj"/>
            </a:avLst>
          </a:prstGeom>
          <a:solidFill>
            <a:srgbClr val="0F172A"/>
          </a:solidFill>
          <a:ln>
            <a:noFill/>
          </a:ln>
          <a:effectLst>
            <a:outerShdw blurRad="152400" rotWithShape="0" algn="bl" dir="5400000" dist="50800">
              <a:srgbClr val="0F172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8640" y="246888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&lt;10%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22960" y="3657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Reciclaje Efectivo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1874520" y="416052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822960" y="434340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Fuente: estimaciones sectoriales sobre gestión de residuos domiciliarios en Chile.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297680" y="2011680"/>
            <a:ext cx="7223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Menos del 10% de los residuos domiciliarios se recicla efectivamente en Chile. A esto se suma que, en los puntos limpios de retail, la basura mezclada o mal clasificada genera hasta un 28% de contaminación cruzada en el origen, provocando la ineficiencia del circuito formal.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297680" y="3977640"/>
            <a:ext cx="23317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434840" y="411480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47857"/>
                </a:solidFill>
                <a:latin typeface="Cambria"/>
                <a:ea typeface="Cambria"/>
                <a:cs typeface="Cambria"/>
                <a:sym typeface="Cambria"/>
              </a:rPr>
              <a:t>28%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434840" y="470916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Contaminación cruzada en fardos reciclables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12280" y="3977640"/>
            <a:ext cx="23317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949440" y="411480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47857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949440" y="470916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 los puntos limpios requieren mejor señalética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326880" y="3977640"/>
            <a:ext cx="23317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464040" y="411480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4785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464040" y="470916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Solución digital, cero fricción, en el punto de descarte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Desafío: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Ley REP y el Retail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bins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0" y="1417320"/>
            <a:ext cx="3657600" cy="23042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7955280" y="1417320"/>
            <a:ext cx="3657600" cy="2304288"/>
          </a:xfrm>
          <a:prstGeom prst="roundRect">
            <a:avLst>
              <a:gd fmla="val 2381" name="adj"/>
            </a:avLst>
          </a:prstGeom>
          <a:noFill/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955280" y="3794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Puntos limpios institucionales de retail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1581912"/>
            <a:ext cx="100584" cy="1005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68680" y="1508760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 Ley 20.920 exige a las empresas comercializadoras de consumo masivo recolectar y valorizar sus envases, operando bajo Sistemas Colectivos (GRANSIC).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2752344"/>
            <a:ext cx="100584" cy="1005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68680" y="2679192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 puntos limpios institucionales enfrentan el desconocimiento del usuario en el instante exacto del descarte.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3922776"/>
            <a:ext cx="100584" cy="1005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8680" y="3849624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rechazo de lotes completos de fardos reciclables por alta impureza genera graves sobrecostos de traslado a rellenos sanitarios.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5093208"/>
            <a:ext cx="100584" cy="1005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68680" y="5020056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Existe un riesgo inminente de severas multas ante la Superintendencia del Medio Ambiente (SMA) por el incumplimiento de metas de valorización.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Propósito General y Metas Específicas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fmla="val 69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arget_emerald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9385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600200" y="1828800"/>
            <a:ext cx="9784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Objetivo General: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sistema web de clasificación inteligente de residuos, basado en visión computacional, que reduzca la contaminación cruzada en puntos limpios de retail y facilite el cumplimiento de la Ley REP.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017520"/>
            <a:ext cx="2651760" cy="30632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77240" y="324612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emeral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2606040" y="31821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77240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Modelo de Clasificación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77240" y="443484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Diseñar y entrenar una CNN vía Transfer Learning capaz de clasificar residuos multiclase, evaluada con métrica Macro-F1.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364992" y="3017520"/>
            <a:ext cx="2651760" cy="30632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593592" y="324612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_emerald.png"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2464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5422392" y="31821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593592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PWA de Cero Fricción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593592" y="443484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Implementar una aplicación web progresiva de acceso inmediato por QR que guíe al usuario en el punto exacto de descarte.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181344" y="3017520"/>
            <a:ext cx="2651760" cy="30632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409944" y="324612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emerald.png"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8816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8238744" y="31821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9944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Dashboard de Cumplimiento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9944" y="443484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Construir un tablero B2B que centralice pureza, trazabilidad y métricas exigidas por el RETC para la Gerencia de Sustentabilidad.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997696" y="3017520"/>
            <a:ext cx="2651760" cy="30632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226296" y="324612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_emerald.png" id="131" name="Google Shape;13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5168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1055096" y="31821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226296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Despliegue Escalable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226296" y="4434840"/>
            <a:ext cx="21945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Desplegar la solución en infraestructura contenerizada, con inferencia bajo 2 segundos y alta disponibilidad.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MODELO DE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Propuesta de Valor Estratégica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1828800"/>
            <a:ext cx="3520440" cy="42062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68680" y="2148840"/>
            <a:ext cx="68580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emerald.png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30428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868680" y="30175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Beneficios (Gains)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68680" y="3520440"/>
            <a:ext cx="28803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Fomenta el aprendizaje in situ. Otorga certidumbre total al usuario final al momento de reciclar, asegurando que el material depositado va directamente al contenedor correcto sin errores.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343400" y="1828800"/>
            <a:ext cx="3520440" cy="42062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663440" y="2148840"/>
            <a:ext cx="68580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emerald.png"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230428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4663440" y="30175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Alivios (Pains)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663440" y="3520440"/>
            <a:ext cx="28803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Elimina la confusión frente a los distintos símbolos plásticos y mitiga el miedo ciudadano a "arruinar" el lote. Además, optimiza los tiempos de clasificación manual para los operadores.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138160" y="1828800"/>
            <a:ext cx="3520440" cy="42062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458200" y="2148840"/>
            <a:ext cx="68580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gnify_emerald.png" id="156" name="Google Shape;1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3648" y="230428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8458200" y="30175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Visibilidad B2B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458200" y="3520440"/>
            <a:ext cx="28803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Elimina la ceguera de datos corporativa. Permite a la Gerencia de Sustentabilidad tomar decisiones tácticas basadas en trazabilidad en tiempo real para cumplir las normativas RETC.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7"/>
          <p:cNvCxnSpPr/>
          <p:nvPr/>
        </p:nvCxnSpPr>
        <p:spPr>
          <a:xfrm>
            <a:off x="5358384" y="2331720"/>
            <a:ext cx="1463040" cy="0"/>
          </a:xfrm>
          <a:prstGeom prst="straightConnector1">
            <a:avLst/>
          </a:prstGeom>
          <a:noFill/>
          <a:ln cap="flat" cmpd="sng" w="317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548640" y="260604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Nuestra Solución Integral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463040" y="3520440"/>
            <a:ext cx="92628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Visión Computacional y Analítica B2B al servicio de la economía circular.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VISIÓN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Arquitectura de la Solución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dashboard_laptop.png"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28800"/>
            <a:ext cx="352044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fmla="val 4651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2296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PWA Interactiva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22960" y="4416552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Acceso inmediato vía QR en el punto limpio, sin necesidad de instalación.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34340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eural.png"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828800"/>
            <a:ext cx="352044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fmla="val 4651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26280" y="1993392"/>
            <a:ext cx="457200" cy="457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1772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Motor AI (Deep Learning)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17720" y="4416552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Inferencia multiclase en menos de 2 segundos garantizando la pureza.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13816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oman_products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0" y="1828800"/>
            <a:ext cx="352044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8138160" y="1828800"/>
            <a:ext cx="3520440" cy="1965960"/>
          </a:xfrm>
          <a:prstGeom prst="roundRect">
            <a:avLst>
              <a:gd fmla="val 4651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321040" y="1993392"/>
            <a:ext cx="457200" cy="457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41248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Dashboard B2B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412480" y="4416552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Métricas operacionales, horarios de demanda e indicadores de gestión corporativa.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FRONTEND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PWA de Cero Fricción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8640" y="1874520"/>
            <a:ext cx="5212080" cy="1965960"/>
          </a:xfrm>
          <a:prstGeom prst="roundRect">
            <a:avLst>
              <a:gd fmla="val 3721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obile_emerald.png"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1214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1508760" y="21031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Asistencia Instantánea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22960" y="2606040"/>
            <a:ext cx="4663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Aplicación web accesible mediante código QR directamente en los contenedores. Captura imágenes nativamente utilizando getUserMedia y entrega una guía de reciclaje al instante.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4023360"/>
            <a:ext cx="5212080" cy="2011680"/>
          </a:xfrm>
          <a:prstGeom prst="roundRect">
            <a:avLst>
              <a:gd fmla="val 3636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ye_emerald.png" id="211" name="Google Shape;21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42702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1508760" y="4251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Control de Calidad de Captura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22960" y="475488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Implementa controles de varianza Laplaciana para detectar capturas borrosas y prevenir "data leakage" antes de ejecutar la inferencia predictiva.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92240" y="1600200"/>
            <a:ext cx="2331720" cy="4572000"/>
          </a:xfrm>
          <a:prstGeom prst="roundRect">
            <a:avLst>
              <a:gd fmla="val 10980" name="adj"/>
            </a:avLst>
          </a:prstGeom>
          <a:solidFill>
            <a:srgbClr val="1E293B"/>
          </a:solidFill>
          <a:ln cap="flat" cmpd="sng" w="1905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583680" y="1920240"/>
            <a:ext cx="2148840" cy="3931920"/>
          </a:xfrm>
          <a:prstGeom prst="roundRect">
            <a:avLst>
              <a:gd fmla="val 595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812280" y="2148840"/>
            <a:ext cx="1691640" cy="1463040"/>
          </a:xfrm>
          <a:prstGeom prst="roundRect">
            <a:avLst>
              <a:gd fmla="val 625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cycle_emerald.png" id="217" name="Google Shape;2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8060" y="2468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6812280" y="32004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Escaneando...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812280" y="3840480"/>
            <a:ext cx="169164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949440" y="384048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Plástico PET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812280" y="4343400"/>
            <a:ext cx="169164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949440" y="4343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Vidrio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812280" y="4846320"/>
            <a:ext cx="169164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949440" y="48463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Cartón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812280" y="5349240"/>
            <a:ext cx="1691640" cy="384048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949440" y="53492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Orgánico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CAPA DE INTELIGENCIA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Motor de IA y Backend Robusto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914400" y="219456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emerald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914400" y="320040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Modelado por Transfer Learning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14400" y="3977640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Implementación estratégica de redes neuronales convolucionales (MobileNet y EfficientNet) evaluadas bajo estrictas métricas de Macro-F1. Proporciona inferencia ultrarrápida multiclase, procesando imágenes de residuos en menos de 2 segundos en un entorno escalable.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172200" y="182880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537960" y="219456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emerald.png" id="242" name="Google Shape;2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255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API REST &amp; Calibración Defensiva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537960" y="3977640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Arquitectura asíncrona soportada en FastAPI (Python). Incorpora una calibración estricta del umbral probabilístico. Si la confianza es inferior a los rangos aceptados, el sistema clasifica como "Basura Común", sacrificando recall para proteger la pureza absoluta del lote reciclable.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252" name="Google Shape;2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INTELIGENCIA DE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Tablero Analítico B2B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8183880" y="1783080"/>
            <a:ext cx="3017520" cy="3017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 cap="flat" cmpd="sng" w="317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corporate_men.png" id="256" name="Google Shape;2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3608" y="1892808"/>
            <a:ext cx="2798064" cy="27980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548640" y="1828800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Gestión y Cumplimiento Normativo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48640" y="2423160"/>
            <a:ext cx="66751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Plataforma analítica diseñada específicamente para la Gerencia de Sustentabilidad del retail. Centraliza de forma estructurada los datos transaccionales (desde PostgreSQL), revelando métricas de trazabilidad, niveles de pureza por sucursal y la densidad horaria de usuarios.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48640" y="4069080"/>
            <a:ext cx="6675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Esta inteligencia de negocios automatiza y audita la información necesaria para los reportes mandatados por el RETC, reduciendo significativamente el riesgo legal.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Arquitectura y Modelo de Datos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48640" y="1828800"/>
            <a:ext cx="11091672" cy="65836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85800" y="182880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886200" y="182880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 Habilitante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086600" y="1828800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Propósito Central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48640" y="2487168"/>
            <a:ext cx="11091672" cy="65836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685800" y="2487168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Front-End (Usuario)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3886200" y="2487168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PWA, HTML5, JavaScript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7086600" y="2487168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Interfaz móvil web accesible vía código QR sin descargas.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48640" y="3145536"/>
            <a:ext cx="1109167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85800" y="3145536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Back-End /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886200" y="3145536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3, FastAPI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086600" y="3145536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Recepción de peticiones asíncronas y ejecución del modelo (&lt;2s).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48640" y="3803904"/>
            <a:ext cx="11091672" cy="65836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685800" y="3803904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Motor de 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886200" y="3803904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TensorFlow, Keras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7086600" y="3803904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Clasificación convolucional multiclase (MobileNet).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48640" y="4462272"/>
            <a:ext cx="1109167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85800" y="4462272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Capa de Persistencia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3886200" y="4462272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PostgreSQL (Cloud 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086600" y="4462272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Auditoría de inferencias, metadatos y catálogos de residuos.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8640" y="5120640"/>
            <a:ext cx="11091672" cy="65836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85800" y="5120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Despliegue &amp; Infra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3886200" y="5120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Docker, Google Cloud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086600" y="5120640"/>
            <a:ext cx="450799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Alta disponibilidad, escalamiento automático y baja latencia.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Ciclo de Trabajo: CRISP-DM Aplicado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proyecto adapta el estándar Cross-Industry Standard Process for Data Mining para asegurar rigor técnico en cada etapa de desarrollo del modelo.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2057400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777240" y="228600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pass_emerald.png" id="304" name="Google Shape;3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4048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3"/>
          <p:cNvSpPr/>
          <p:nvPr/>
        </p:nvSpPr>
        <p:spPr>
          <a:xfrm>
            <a:off x="3474720" y="222199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777240" y="29535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Comprensión del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777240" y="329184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Definición del problema APT y alineación con Ley REP.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3959352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233672" y="2057400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462272" y="228600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emerald.png" id="311" name="Google Shape;3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144" y="24048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/>
          <p:nvPr/>
        </p:nvSpPr>
        <p:spPr>
          <a:xfrm>
            <a:off x="7159752" y="222199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462272" y="29535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Comprensión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462272" y="329184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Auditoría, protocolo de recolección y curación en terreno.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644384" y="26517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918704" y="2057400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8147304" y="2286000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ear_emerald.png" id="318" name="Google Shape;31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6176" y="24048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10844784" y="222199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147304" y="29535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Preparación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147304" y="329184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Limpieza, etiquetado y balanceo de clases de residuos.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48640" y="4233672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777240" y="4462272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ain_emerald.png" id="324" name="Google Shape;32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6112" y="45811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3474720" y="439826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77240" y="512978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77240" y="546811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Transfer Learning con CNNs (MobileNet / EfficientNet).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3959352" y="48280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233672" y="4233672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4462272" y="4462272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agnify_emerald.png" id="331" name="Google Shape;33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144" y="45811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3"/>
          <p:cNvSpPr/>
          <p:nvPr/>
        </p:nvSpPr>
        <p:spPr>
          <a:xfrm>
            <a:off x="7159752" y="439826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462272" y="512978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462272" y="546811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Métricas Macro-F1 y calibración de umbrales de confianza.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644384" y="48280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918704" y="4233672"/>
            <a:ext cx="342900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147304" y="4462272"/>
            <a:ext cx="5486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47857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_emerald.png" id="338" name="Google Shape;33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66176" y="45811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10844784" y="4398264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147304" y="5129784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8147304" y="546811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Contenerización, pruebas de estrés y salida a producción.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4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Ciclo de Desarrollo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4"/>
          <p:cNvCxnSpPr/>
          <p:nvPr/>
        </p:nvCxnSpPr>
        <p:spPr>
          <a:xfrm>
            <a:off x="822960" y="3840480"/>
            <a:ext cx="1051560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3" name="Google Shape;353;p14"/>
          <p:cNvSpPr/>
          <p:nvPr/>
        </p:nvSpPr>
        <p:spPr>
          <a:xfrm>
            <a:off x="1769364" y="3758184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48640" y="2240280"/>
            <a:ext cx="2606040" cy="1325880"/>
          </a:xfrm>
          <a:prstGeom prst="roundRect">
            <a:avLst>
              <a:gd fmla="val 5517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731520" y="235000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731520" y="26609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Semanas 1-2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31520" y="2953512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Definición del proyecto APT, protocolo de recolección, auditoría de dataset y modelo relacional.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512564" y="3758184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3291840" y="4160520"/>
            <a:ext cx="2606040" cy="1325880"/>
          </a:xfrm>
          <a:prstGeom prst="roundRect">
            <a:avLst>
              <a:gd fmla="val 5517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3474720" y="427024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474720" y="458114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Semanas 3-4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3474720" y="4873752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Curación de imágenes en terreno, filtro Laplaciano y programación de endpoints API REST.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255764" y="3758184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6035040" y="2240280"/>
            <a:ext cx="2606040" cy="1325880"/>
          </a:xfrm>
          <a:prstGeom prst="roundRect">
            <a:avLst>
              <a:gd fmla="val 5517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6217920" y="235000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6217920" y="26609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Semanas 5-6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6217920" y="2953512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Entrenamiento Transfer Learning (CNN), calibración de umbrales y optimización de métricas.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9998964" y="3758184"/>
            <a:ext cx="164592" cy="1645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8778240" y="4160520"/>
            <a:ext cx="2606040" cy="1325880"/>
          </a:xfrm>
          <a:prstGeom prst="roundRect">
            <a:avLst>
              <a:gd fmla="val 5517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8961120" y="427024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Sprints 4-5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961120" y="458114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Semanas 7-10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8961120" y="4873752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Integración final PWA + B2B, pruebas de estrés API, validación out-of-domain y despliegue.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RESULTADOS ESPERADOS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Indicadores Clave de Desempeño (KPIs)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Metas técnicas y de negocio que EcoScan busca alcanzar durante el piloto de validación en puntos limpios.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48640" y="2057400"/>
            <a:ext cx="2606040" cy="1965960"/>
          </a:xfrm>
          <a:prstGeom prst="roundRect">
            <a:avLst>
              <a:gd fmla="val 465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_emerald.png" id="383" name="Google Shape;3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5"/>
          <p:cNvSpPr/>
          <p:nvPr/>
        </p:nvSpPr>
        <p:spPr>
          <a:xfrm>
            <a:off x="731520" y="27432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&lt; 2s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31520" y="34747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Tiempo de inferencia por imagen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3383280" y="2057400"/>
            <a:ext cx="2606040" cy="1965960"/>
          </a:xfrm>
          <a:prstGeom prst="roundRect">
            <a:avLst>
              <a:gd fmla="val 465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_emerald.png" id="387" name="Google Shape;3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188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3566160" y="27432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≥ 90%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566160" y="34747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Pureza objetivo de fardos reciclables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217920" y="2057400"/>
            <a:ext cx="2606040" cy="1965960"/>
          </a:xfrm>
          <a:prstGeom prst="roundRect">
            <a:avLst>
              <a:gd fmla="val 465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cycle_emerald.png" id="391" name="Google Shape;3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5"/>
          <p:cNvSpPr/>
          <p:nvPr/>
        </p:nvSpPr>
        <p:spPr>
          <a:xfrm>
            <a:off x="6400800" y="27432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-28%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00800" y="34747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Reducción esperada de contaminación cruzada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9052560" y="2057400"/>
            <a:ext cx="2606040" cy="1965960"/>
          </a:xfrm>
          <a:prstGeom prst="roundRect">
            <a:avLst>
              <a:gd fmla="val 465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emerald.png" id="395" name="Google Shape;39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116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5"/>
          <p:cNvSpPr/>
          <p:nvPr/>
        </p:nvSpPr>
        <p:spPr>
          <a:xfrm>
            <a:off x="9235440" y="274320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9235440" y="34747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Trazabilidad de inferencias para reportes RETC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st_emerald.png" id="399" name="Google Shape;3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" y="4663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/>
          <p:nvPr/>
        </p:nvSpPr>
        <p:spPr>
          <a:xfrm>
            <a:off x="1463040" y="4617720"/>
            <a:ext cx="9875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Criterio de éxito del piloto: 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 considerará exitosa la validación si el sistema mantiene una pureza de clasificación igual o superior al 90% durante al menos 4 semanas consecutivas de operación en un punto limpio piloto, sin intervención manual correctiva mayor al 10% de los casos.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408" name="Google Shape;4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6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Riesgos del Proyecto y Mitigación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548640" y="1828800"/>
            <a:ext cx="11091672" cy="777240"/>
          </a:xfrm>
          <a:prstGeom prst="rect">
            <a:avLst/>
          </a:prstGeom>
          <a:solidFill>
            <a:srgbClr val="04785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685800" y="182880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6172200" y="182880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543800" y="1828800"/>
            <a:ext cx="3959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 de Mitigación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548640" y="2606040"/>
            <a:ext cx="11091672" cy="7772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685800" y="260604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insuficiente o desbalanceado entre clases de residuos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6172200" y="260604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7543800" y="2606040"/>
            <a:ext cx="3959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Aumento de datos (data augmentation) y curación continua en terreno.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548640" y="3383280"/>
            <a:ext cx="11091672" cy="7772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685800" y="338328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Falsos negativos que elevan la contaminación del lote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6172200" y="33832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7543800" y="3383280"/>
            <a:ext cx="3959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Calibración conservadora del umbral; fallback a "Basura Común" ante baja confianza.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548640" y="4160520"/>
            <a:ext cx="11091672" cy="7772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85800" y="416052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Baja adopción del usuario final en el punto limpio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6172200" y="416052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7543800" y="4160520"/>
            <a:ext cx="3959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UX de cero fricción, señalética in situ y flujo de escaneo en menos de 3 pasos.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685800" y="493776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Picos de demanda que saturan la infraestructura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6172200" y="493776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7543800" y="4937760"/>
            <a:ext cx="3959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Autoescalado en Google Cloud Run y pruebas de estrés previas al despliegue.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NUESTRO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Equipo de Trabajo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1805940" y="219456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1805940" y="21945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777240" y="33832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Emanuel Mejías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777240" y="373075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Project Lead &amp; Backend Eng.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17"/>
          <p:cNvCxnSpPr/>
          <p:nvPr/>
        </p:nvCxnSpPr>
        <p:spPr>
          <a:xfrm>
            <a:off x="1943100" y="4160520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17"/>
          <p:cNvSpPr/>
          <p:nvPr/>
        </p:nvSpPr>
        <p:spPr>
          <a:xfrm>
            <a:off x="822960" y="4343400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Desarrolla la arquitectura API REST asíncrona, orquesta el modelo transaccional en PostgreSQL y ejecuta pruebas de estrés de carga.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434340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5600700" y="219456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5600700" y="21945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WC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572000" y="33832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Williams Chanillao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4572000" y="373075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Machine Learning Eng.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5737860" y="4160520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7"/>
          <p:cNvSpPr/>
          <p:nvPr/>
        </p:nvSpPr>
        <p:spPr>
          <a:xfrm>
            <a:off x="4617720" y="4343400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Control del ciclo de vida CRISP-DM, limpieza de datos, entrenamiento profundo con CNNs, evaluación de métricas y calibración de inferencia.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8138160" y="1828800"/>
            <a:ext cx="3520440" cy="41605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34155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9395460" y="219456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9395460" y="21945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BD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8366760" y="33832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Bruno Díaz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8366760" y="373075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Frontend Dev &amp; 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17"/>
          <p:cNvCxnSpPr/>
          <p:nvPr/>
        </p:nvCxnSpPr>
        <p:spPr>
          <a:xfrm>
            <a:off x="9532620" y="4160520"/>
            <a:ext cx="73152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7"/>
          <p:cNvSpPr/>
          <p:nvPr/>
        </p:nvSpPr>
        <p:spPr>
          <a:xfrm>
            <a:off x="8412480" y="4343400"/>
            <a:ext cx="2971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Diseño y construcción de la PWA integrando el estándar getUserMedia. Lidera el desarrollo del Dashboard corporativo B2B.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· Proyecto Capstone 2026 —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467" name="Google Shape;4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8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 y Próximos Pasos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emerald.png" id="470" name="Google Shape;4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7373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8"/>
          <p:cNvSpPr/>
          <p:nvPr/>
        </p:nvSpPr>
        <p:spPr>
          <a:xfrm>
            <a:off x="1051560" y="169164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EcoScan cierra la brecha entre la intención de reciclar y la clasificación correcta en el punto de origen.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emerald.png" id="472" name="Google Shape;4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8"/>
          <p:cNvSpPr/>
          <p:nvPr/>
        </p:nvSpPr>
        <p:spPr>
          <a:xfrm>
            <a:off x="1051560" y="260604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Combina IA aplicada, ingeniería de datos y diseño centrado en el usuario para responder a una exigencia legal real: la Ley REP.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emerald.png" id="474" name="Google Shape;4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566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8"/>
          <p:cNvSpPr/>
          <p:nvPr/>
        </p:nvSpPr>
        <p:spPr>
          <a:xfrm>
            <a:off x="1051560" y="3520440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Propone una arquitectura escalable y medible, lista para un piloto controlado en puntos limpios de retail.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7589520" y="1691640"/>
            <a:ext cx="4050792" cy="4480560"/>
          </a:xfrm>
          <a:prstGeom prst="roundRect">
            <a:avLst>
              <a:gd fmla="val 2257" name="adj"/>
            </a:avLst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7863840" y="2496312"/>
            <a:ext cx="82296" cy="822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8092440" y="2423160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Piloto controlado en un punto limpio de retail asociado.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7863840" y="3246120"/>
            <a:ext cx="82296" cy="822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8092440" y="3172968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Ampliación del catálogo de clases de residuos reconocibles.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7863840" y="3995928"/>
            <a:ext cx="82296" cy="822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8092440" y="3922776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Integración con Sistemas Colectivos (GRANSIC) y reportería RETC automatizada.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7863840" y="4745736"/>
            <a:ext cx="82296" cy="822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8092440" y="4672584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Iteración del modelo con datos reales de producción.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bg_dark.png" id="492" name="Google Shape;4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9"/>
          <p:cNvSpPr/>
          <p:nvPr/>
        </p:nvSpPr>
        <p:spPr>
          <a:xfrm>
            <a:off x="548640" y="25146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¿Preguntas?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463040" y="3429000"/>
            <a:ext cx="9262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Gracias por su atención en esta presentación del Proyecto Capstone.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463040" y="3886200"/>
            <a:ext cx="92628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EcoScan 2026 | Duoc UC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2026-09-04T02:40:23Z</dcterms:created>
  <dc:creator>PptxGenJS</dc:creator>
</cp:coreProperties>
</file>